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47207" y="1005840"/>
            <a:ext cx="1097280" cy="10972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4400" b="1">
                <a:solidFill>
                  <a:srgbClr val="FFFFFF"/>
                </a:solidFill>
                <a:latin typeface="Poppins"/>
              </a:rPr>
              <a:t>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Poppins"/>
              </a:rPr>
              <a:t>HealthEase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601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4B8A6"/>
                </a:solidFill>
                <a:latin typeface="Poppins"/>
              </a:rPr>
              <a:t>AI-Powered Healthcare Management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BD5E1"/>
                </a:solidFill>
                <a:latin typeface="Inter"/>
              </a:rPr>
              <a:t>Final Year B.Tech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19695" y="4937760"/>
            <a:ext cx="4206240" cy="155448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94A3B8"/>
                </a:solidFill>
                <a:latin typeface="Inter"/>
              </a:rPr>
              <a:t>Presented by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2022BITE018  —  Vardan Pal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2022BITE037  —  U Rajeshwar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2022BITE007  —  Karan Kharadi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OUTLINE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Agenda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1554480"/>
            <a:ext cx="420624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E293B"/>
                </a:solidFill>
                <a:latin typeface="Inter"/>
              </a:rPr>
              <a:t>Introduction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92608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2926080"/>
            <a:ext cx="420624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E293B"/>
                </a:solidFill>
                <a:latin typeface="Inter"/>
              </a:rPr>
              <a:t>Background &amp; Literature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9768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4297680"/>
            <a:ext cx="420624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E293B"/>
                </a:solidFill>
                <a:latin typeface="Inter"/>
              </a:rPr>
              <a:t>System Design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155448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554480"/>
            <a:ext cx="420624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E293B"/>
                </a:solidFill>
                <a:latin typeface="Inter"/>
              </a:rPr>
              <a:t>Implementation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292608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926080"/>
            <a:ext cx="420624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E293B"/>
                </a:solidFill>
                <a:latin typeface="Inter"/>
              </a:rPr>
              <a:t>Results &amp; Testing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4297680"/>
            <a:ext cx="731520" cy="73152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4297680"/>
            <a:ext cx="4206240" cy="731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E293B"/>
                </a:solidFill>
                <a:latin typeface="Inter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OVERVIEW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Abstract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737360"/>
            <a:ext cx="10149840" cy="3291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HealthEase is a full-stack MERN platform that digitises paper and handwritten prescriptions using an AI vision-language OCR engine, then applies a custom-trained machine-learning classifier to map each prescribed medicine to the disease it treats.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1E293B"/>
                </a:solidFill>
                <a:latin typeface="Inter"/>
              </a:rPr>
              <a:t/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1E293B"/>
                </a:solidFill>
                <a:latin typeface="Inter"/>
              </a:rPr>
              <a:t>It tracks patient vitals and medication compliance, computes a Smart Health Score (0–100), checks drug interactions, and connects patients to doctors through telemedicine — unifying fragmented healthcare workflows into one secure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WHY HEALTHEASE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502920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192024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920240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Inter"/>
              </a:rPr>
              <a:t>Hard-to-read prescriptions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Inter"/>
              </a:rPr>
              <a:t>Paper and handwritten prescriptions are difficult to digitise.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502920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92024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920240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Inter"/>
              </a:rPr>
              <a:t>Unclear medicines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Inter"/>
              </a:rPr>
              <a:t>Patients don't understand what each medicine is for.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49039"/>
            <a:ext cx="502920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4023359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023359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Inter"/>
              </a:rPr>
              <a:t>Poor compliance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Inter"/>
              </a:rPr>
              <a:t>Missed doses and refills lead to worse outcomes.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49039"/>
            <a:ext cx="502920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60" y="4023359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023359"/>
            <a:ext cx="3566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293B"/>
                </a:solidFill>
                <a:latin typeface="Inter"/>
              </a:rPr>
              <a:t>Fragmented data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Inter"/>
              </a:rPr>
              <a:t>Vitals, prescriptions and consultations live in silos.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BACKGROUND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65836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Inter"/>
              </a:rPr>
              <a:t>•  </a:t>
            </a:r>
            <a:r>
              <a:rPr sz="1600" b="0">
                <a:solidFill>
                  <a:srgbClr val="1E293B"/>
                </a:solidFill>
                <a:latin typeface="Inter"/>
              </a:rPr>
              <a:t>Rising chronic-disease burden demands better tracking.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Inter"/>
              </a:rPr>
              <a:t>•  </a:t>
            </a:r>
            <a:r>
              <a:rPr sz="1600" b="0">
                <a:solidFill>
                  <a:srgbClr val="1E293B"/>
                </a:solidFill>
                <a:latin typeface="Inter"/>
              </a:rPr>
              <a:t>Prescriptions must be made understandable to patients.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Inter"/>
              </a:rPr>
              <a:t>•  </a:t>
            </a:r>
            <a:r>
              <a:rPr sz="1600" b="0">
                <a:solidFill>
                  <a:srgbClr val="1E293B"/>
                </a:solidFill>
                <a:latin typeface="Inter"/>
              </a:rPr>
              <a:t>Compliance monitoring should be active, not passive.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Inter"/>
              </a:rPr>
              <a:t>•  </a:t>
            </a:r>
            <a:r>
              <a:rPr sz="1600" b="0">
                <a:solidFill>
                  <a:srgbClr val="1E293B"/>
                </a:solidFill>
                <a:latin typeface="Inter"/>
              </a:rPr>
              <a:t>Healthcare data needs a single, unified platform.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0D9488"/>
                </a:solidFill>
                <a:latin typeface="Inter"/>
              </a:rPr>
              <a:t>•  </a:t>
            </a:r>
            <a:r>
              <a:rPr sz="1600" b="0">
                <a:solidFill>
                  <a:srgbClr val="1E293B"/>
                </a:solidFill>
                <a:latin typeface="Inter"/>
              </a:rPr>
              <a:t>Modern AI (vision models + ML) enables real clinical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737360"/>
            <a:ext cx="3840480" cy="34747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6000" b="1">
                <a:solidFill>
                  <a:srgbClr val="FFFFFF"/>
                </a:solidFill>
                <a:latin typeface="Poppins"/>
              </a:rPr>
              <a:t>🏥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Patient-centric, AI-driven care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GOALS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Objectives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08760"/>
            <a:ext cx="566928" cy="56692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1508760"/>
            <a:ext cx="978408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Automatically extract data from prescription images (OCR).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286000"/>
            <a:ext cx="978408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Map medicines to their indication using a trained ML model.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063239"/>
            <a:ext cx="566928" cy="56692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3063239"/>
            <a:ext cx="978408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Track vitals and medication compliance with analytics.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840479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3840479"/>
            <a:ext cx="978408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Quantify patient health as a single Smart Health Score.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617720"/>
            <a:ext cx="566928" cy="56692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4617720"/>
            <a:ext cx="978408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Enable secure multi-role telemedicine (Patient/Doctor/Admin).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9496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5394960"/>
            <a:ext cx="978408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1E293B"/>
                </a:solidFill>
                <a:latin typeface="Inter"/>
              </a:rPr>
              <a:t>Deliver everything in one responsive, secure web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EXISTING SYSTEMS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Literature Survey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08760"/>
          <a:ext cx="10881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737360"/>
                <a:gridCol w="1737360"/>
                <a:gridCol w="173736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</a:rPr>
                        <a:t>Feature</a:t>
                      </a:r>
                    </a:p>
                  </a:txBody>
                  <a:tcPr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</a:rPr>
                        <a:t>HealthEase</a:t>
                      </a:r>
                    </a:p>
                  </a:txBody>
                  <a:tcPr marT="18288" marB="18288" anchor="ctr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</a:rPr>
                        <a:t>Practo</a:t>
                      </a:r>
                    </a:p>
                  </a:txBody>
                  <a:tcPr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</a:rPr>
                        <a:t>1mg</a:t>
                      </a:r>
                    </a:p>
                  </a:txBody>
                  <a:tcPr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</a:rPr>
                        <a:t>EHR</a:t>
                      </a:r>
                    </a:p>
                  </a:txBody>
                  <a:tcPr marT="18288" marB="18288" anchor="ctr"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Inter"/>
                        </a:rPr>
                        <a:t>OCR prescription reading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T="18288" marB="18288" anchor="ctr">
                    <a:solidFill>
                      <a:srgbClr val="E2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BD5E1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BD5E1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BD5E1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Inter"/>
                        </a:rPr>
                        <a:t>AI medicine → disease mapping</a:t>
                      </a:r>
                    </a:p>
                  </a:txBody>
                  <a:tcPr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T="18288" marB="18288" anchor="ctr">
                    <a:solidFill>
                      <a:srgbClr val="E2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BD5E1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59E0B"/>
                          </a:solidFill>
                          <a:latin typeface="Inter"/>
                        </a:rPr>
                        <a:t>~</a:t>
                      </a:r>
                    </a:p>
                  </a:txBody>
                  <a:tcPr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BD5E1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T="18288" marB="18288"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Inter"/>
                        </a:rPr>
                        <a:t>Smart Health Score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T="18288" marB="18288" anchor="ctr">
                    <a:solidFill>
                      <a:srgbClr val="E2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BD5E1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BD5E1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BD5E1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Inter"/>
                        </a:rPr>
                        <a:t>Compliance tracking</a:t>
                      </a:r>
                    </a:p>
                  </a:txBody>
                  <a:tcPr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T="18288" marB="18288" anchor="ctr">
                    <a:solidFill>
                      <a:srgbClr val="E2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BD5E1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59E0B"/>
                          </a:solidFill>
                          <a:latin typeface="Inter"/>
                        </a:rPr>
                        <a:t>~</a:t>
                      </a:r>
                    </a:p>
                  </a:txBody>
                  <a:tcPr marT="18288" marB="18288"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Inter"/>
                        </a:rPr>
                        <a:t>Vitals analytics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T="18288" marB="18288" anchor="ctr">
                    <a:solidFill>
                      <a:srgbClr val="E2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59E0B"/>
                          </a:solidFill>
                          <a:latin typeface="Inter"/>
                        </a:rPr>
                        <a:t>~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BD5E1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Inter"/>
                        </a:rPr>
                        <a:t>Drug-interaction check</a:t>
                      </a:r>
                    </a:p>
                  </a:txBody>
                  <a:tcPr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T="18288" marB="18288" anchor="ctr">
                    <a:solidFill>
                      <a:srgbClr val="E2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BD5E1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59E0B"/>
                          </a:solidFill>
                          <a:latin typeface="Inter"/>
                        </a:rPr>
                        <a:t>~</a:t>
                      </a:r>
                    </a:p>
                  </a:txBody>
                  <a:tcPr marT="18288" marB="18288"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Inter"/>
                        </a:rPr>
                        <a:t>Real-time notifications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T="18288" marB="18288" anchor="ctr">
                    <a:solidFill>
                      <a:srgbClr val="E2F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CBD5E1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SYSTEM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Technology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81328"/>
            <a:ext cx="3108960" cy="56692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481328"/>
            <a:ext cx="731520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Inter"/>
              </a:rPr>
              <a:t>React + Vite · Tailwind CSS · Context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93976"/>
            <a:ext cx="3108960" cy="566928"/>
          </a:xfrm>
          <a:prstGeom prst="roundRect">
            <a:avLst/>
          </a:prstGeom>
          <a:solidFill>
            <a:srgbClr val="0E7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093976"/>
            <a:ext cx="731520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Inter"/>
              </a:rPr>
              <a:t>Node.js + Express · JWT · bcrypt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06624"/>
            <a:ext cx="3108960" cy="566928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706624"/>
            <a:ext cx="731520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Inter"/>
              </a:rPr>
              <a:t>MongoDB + Mongoose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19272"/>
            <a:ext cx="3108960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Real-time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3319272"/>
            <a:ext cx="731520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Inter"/>
              </a:rPr>
              <a:t>Socket.IO live notifications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31920"/>
            <a:ext cx="3108960" cy="56692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OCR Microservice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3931920"/>
            <a:ext cx="731520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Inter"/>
              </a:rPr>
              <a:t>Python + FastAPI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44568"/>
            <a:ext cx="3108960" cy="56692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OCR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4544568"/>
            <a:ext cx="731520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Inter"/>
              </a:rPr>
              <a:t>Groq Llama-4 Vision (pre-trained)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157216"/>
            <a:ext cx="3108960" cy="566928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Machine Learning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5157216"/>
            <a:ext cx="731520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Inter"/>
              </a:rPr>
              <a:t>scikit-learn (custom-trained classifier)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769864"/>
            <a:ext cx="3108960" cy="566928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PDF Export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5769864"/>
            <a:ext cx="7315200" cy="56692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  <a:latin typeface="Inter"/>
              </a:rPr>
              <a:t>jsPDF + html2canvas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SYSTEM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System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417320"/>
            <a:ext cx="4114800" cy="7772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Inter"/>
              </a:rPr>
              <a:t>React + Vite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743200"/>
            <a:ext cx="4114800" cy="7772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Node.js + Express API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206240"/>
            <a:ext cx="3657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MongoDB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4206240"/>
            <a:ext cx="3657600" cy="777240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Inter"/>
              </a:rPr>
              <a:t>Python FastAPI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486400"/>
            <a:ext cx="2468880" cy="6400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Groq Vision 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5486400"/>
            <a:ext cx="2468880" cy="640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ML Classifier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194560"/>
            <a:ext cx="0" cy="54864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0400" y="3520440"/>
            <a:ext cx="0" cy="68580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52560" y="3520440"/>
            <a:ext cx="0" cy="685800"/>
          </a:xfrm>
          <a:prstGeom prst="line">
            <a:avLst/>
          </a:prstGeom>
          <a:ln w="2540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35240" y="4983480"/>
            <a:ext cx="0" cy="502920"/>
          </a:xfrm>
          <a:prstGeom prst="line">
            <a:avLst/>
          </a:prstGeom>
          <a:ln w="25400">
            <a:solidFill>
              <a:srgbClr val="14B8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332720" y="4983480"/>
            <a:ext cx="0" cy="502920"/>
          </a:xfrm>
          <a:prstGeom prst="line">
            <a:avLst/>
          </a:prstGeom>
          <a:ln w="2540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68880" y="3566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Mongoose ODM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5661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HTTP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2860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4748B"/>
                </a:solidFill>
                <a:latin typeface="Inter"/>
              </a:rPr>
              <a:t>REST + WebSockets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SYSTEM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Data Flow Diagram (Level 1)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737360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Patient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1737360" cy="7315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Doctor</a:t>
            </a:r>
          </a:p>
        </p:txBody>
      </p:sp>
      <p:sp>
        <p:nvSpPr>
          <p:cNvPr id="10" name="Oval 9"/>
          <p:cNvSpPr/>
          <p:nvPr/>
        </p:nvSpPr>
        <p:spPr>
          <a:xfrm>
            <a:off x="2834640" y="1554480"/>
            <a:ext cx="1828800" cy="10972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1.0 Upload
Prescription</a:t>
            </a:r>
          </a:p>
        </p:txBody>
      </p:sp>
      <p:sp>
        <p:nvSpPr>
          <p:cNvPr id="11" name="Oval 10"/>
          <p:cNvSpPr/>
          <p:nvPr/>
        </p:nvSpPr>
        <p:spPr>
          <a:xfrm>
            <a:off x="5120640" y="1554480"/>
            <a:ext cx="1828800" cy="10972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2.0 OCR
Extraction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0" y="1554480"/>
            <a:ext cx="1828800" cy="10972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3.0 Medicine
Classification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2834640" y="3657600"/>
            <a:ext cx="1828800" cy="109728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4.0 Vitals
Logging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0" y="3657600"/>
            <a:ext cx="1828800" cy="109728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5.0 Health
Score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0" y="3657600"/>
            <a:ext cx="1828800" cy="10972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6.0 Tele-
medicine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737360"/>
            <a:ext cx="2011680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Inter"/>
              </a:rPr>
              <a:t>Prescriptions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2834640"/>
            <a:ext cx="2011680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Inter"/>
              </a:rPr>
              <a:t>Medicines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3931920"/>
            <a:ext cx="2011680" cy="548640"/>
          </a:xfrm>
          <a:prstGeom prst="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E293B"/>
                </a:solidFill>
                <a:latin typeface="Inter"/>
              </a:rPr>
              <a:t>Vitals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86000" y="2103120"/>
            <a:ext cx="548640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63440" y="2103120"/>
            <a:ext cx="457200" cy="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49440" y="2103120"/>
            <a:ext cx="457200" cy="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6000" y="4206240"/>
            <a:ext cx="548640" cy="365760"/>
          </a:xfrm>
          <a:prstGeom prst="line">
            <a:avLst/>
          </a:prstGeom>
          <a:ln w="25400">
            <a:solidFill>
              <a:srgbClr val="0D948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63440" y="4206240"/>
            <a:ext cx="457200" cy="0"/>
          </a:xfrm>
          <a:prstGeom prst="line">
            <a:avLst/>
          </a:prstGeom>
          <a:ln w="2540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49440" y="4206240"/>
            <a:ext cx="457200" cy="0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235440" y="2011680"/>
            <a:ext cx="640080" cy="9144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235440" y="2103120"/>
            <a:ext cx="640080" cy="100584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SYSTEM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Use-Case Diagram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417320"/>
            <a:ext cx="59436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46304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D9488"/>
                </a:solidFill>
                <a:latin typeface="Inter"/>
              </a:rPr>
              <a:t>HealthEase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1188720" cy="5486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🧍 Patient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24160" y="3017520"/>
            <a:ext cx="1188720" cy="5486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🧍 Doctor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6263640"/>
            <a:ext cx="1188720" cy="5486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🧍 Admin</a:t>
            </a:r>
          </a:p>
        </p:txBody>
      </p:sp>
      <p:sp>
        <p:nvSpPr>
          <p:cNvPr id="13" name="Oval 12"/>
          <p:cNvSpPr/>
          <p:nvPr/>
        </p:nvSpPr>
        <p:spPr>
          <a:xfrm>
            <a:off x="3383280" y="1920240"/>
            <a:ext cx="228600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Upload Prescription</a:t>
            </a:r>
          </a:p>
        </p:txBody>
      </p:sp>
      <p:sp>
        <p:nvSpPr>
          <p:cNvPr id="14" name="Oval 13"/>
          <p:cNvSpPr/>
          <p:nvPr/>
        </p:nvSpPr>
        <p:spPr>
          <a:xfrm>
            <a:off x="3383280" y="2606040"/>
            <a:ext cx="228600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Log Vitals</a:t>
            </a:r>
          </a:p>
        </p:txBody>
      </p:sp>
      <p:sp>
        <p:nvSpPr>
          <p:cNvPr id="15" name="Oval 14"/>
          <p:cNvSpPr/>
          <p:nvPr/>
        </p:nvSpPr>
        <p:spPr>
          <a:xfrm>
            <a:off x="3383280" y="3291840"/>
            <a:ext cx="228600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View Health Score</a:t>
            </a:r>
          </a:p>
        </p:txBody>
      </p:sp>
      <p:sp>
        <p:nvSpPr>
          <p:cNvPr id="16" name="Oval 15"/>
          <p:cNvSpPr/>
          <p:nvPr/>
        </p:nvSpPr>
        <p:spPr>
          <a:xfrm>
            <a:off x="3383280" y="3977639"/>
            <a:ext cx="228600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Book Consultation</a:t>
            </a:r>
          </a:p>
        </p:txBody>
      </p:sp>
      <p:sp>
        <p:nvSpPr>
          <p:cNvPr id="17" name="Oval 16"/>
          <p:cNvSpPr/>
          <p:nvPr/>
        </p:nvSpPr>
        <p:spPr>
          <a:xfrm>
            <a:off x="3383280" y="4663440"/>
            <a:ext cx="228600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Set Reminders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1920240"/>
            <a:ext cx="228600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View Records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2606040"/>
            <a:ext cx="228600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Add Diagnosis</a:t>
            </a:r>
          </a:p>
        </p:txBody>
      </p:sp>
      <p:sp>
        <p:nvSpPr>
          <p:cNvPr id="20" name="Oval 19"/>
          <p:cNvSpPr/>
          <p:nvPr/>
        </p:nvSpPr>
        <p:spPr>
          <a:xfrm>
            <a:off x="6675120" y="3291840"/>
            <a:ext cx="228600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Conduct Consult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0" y="5029200"/>
            <a:ext cx="228600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Approve Doctors</a:t>
            </a:r>
          </a:p>
        </p:txBody>
      </p:sp>
      <p:sp>
        <p:nvSpPr>
          <p:cNvPr id="22" name="Oval 21"/>
          <p:cNvSpPr/>
          <p:nvPr/>
        </p:nvSpPr>
        <p:spPr>
          <a:xfrm>
            <a:off x="6675120" y="5029200"/>
            <a:ext cx="228600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Manage Users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SYSTEM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Database Design (ER Diagram)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417320"/>
            <a:ext cx="256032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874519"/>
            <a:ext cx="256032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E293B"/>
                </a:solidFill>
                <a:latin typeface="Inter"/>
              </a:rPr>
              <a:t>email · role · passwordHash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743200"/>
            <a:ext cx="25603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Patient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00400"/>
            <a:ext cx="256032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E293B"/>
                </a:solidFill>
                <a:latin typeface="Inter"/>
              </a:rPr>
              <a:t>age · gender · contact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743200"/>
            <a:ext cx="25603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Doctor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3200400"/>
            <a:ext cx="256032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E293B"/>
                </a:solidFill>
                <a:latin typeface="Inter"/>
              </a:rPr>
              <a:t>specialty · approved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572000"/>
            <a:ext cx="256032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Prescription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5029200"/>
            <a:ext cx="256032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E293B"/>
                </a:solidFill>
                <a:latin typeface="Inter"/>
              </a:rPr>
              <a:t>doctorName · medications[]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4572000"/>
            <a:ext cx="256032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Medicine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5029200"/>
            <a:ext cx="256032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E293B"/>
                </a:solidFill>
                <a:latin typeface="Inter"/>
              </a:rPr>
              <a:t>dosage · frequency · stock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4572000"/>
            <a:ext cx="2560320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Consultation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5029200"/>
            <a:ext cx="256032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1E293B"/>
                </a:solidFill>
                <a:latin typeface="Inter"/>
              </a:rPr>
              <a:t>date · status · notes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377440" y="2057400"/>
            <a:ext cx="3108960" cy="68580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83680" y="2057400"/>
            <a:ext cx="3108960" cy="68580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77440" y="3383280"/>
            <a:ext cx="0" cy="118872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57600" y="4892040"/>
            <a:ext cx="128016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92640" y="3383280"/>
            <a:ext cx="0" cy="118872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2286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Inter"/>
              </a:rPr>
              <a:t>1 :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9319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4748B"/>
                </a:solidFill>
                <a:latin typeface="Inter"/>
              </a:rPr>
              <a:t>1 : 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SYSTEM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Sequence Diagram — Prescription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55448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Patient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25880" y="1920240"/>
            <a:ext cx="0" cy="420624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94560" y="1417320"/>
            <a:ext cx="155448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Client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1920240"/>
            <a:ext cx="0" cy="420624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31920" y="1417320"/>
            <a:ext cx="155448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1920240"/>
            <a:ext cx="0" cy="420624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60720" y="1417320"/>
            <a:ext cx="155448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OCR Svc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37960" y="1920240"/>
            <a:ext cx="0" cy="420624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89520" y="1417320"/>
            <a:ext cx="155448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ML Model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66760" y="1920240"/>
            <a:ext cx="0" cy="420624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09760" y="1417320"/>
            <a:ext cx="155448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Inter"/>
              </a:rPr>
              <a:t>Database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287000" y="1920240"/>
            <a:ext cx="0" cy="4206240"/>
          </a:xfrm>
          <a:prstGeom prst="line">
            <a:avLst/>
          </a:prstGeom>
          <a:ln w="12700">
            <a:solidFill>
              <a:srgbClr val="CBD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25880" y="2240280"/>
            <a:ext cx="164592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71600" y="198424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293B"/>
                </a:solidFill>
                <a:latin typeface="Inter"/>
              </a:rPr>
              <a:t>upload image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71800" y="2624328"/>
            <a:ext cx="173736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17520" y="2368296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293B"/>
                </a:solidFill>
                <a:latin typeface="Inter"/>
              </a:rPr>
              <a:t>POST /api/ocr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09160" y="3008376"/>
            <a:ext cx="182880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754880" y="27523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293B"/>
                </a:solidFill>
                <a:latin typeface="Inter"/>
              </a:rPr>
              <a:t>forward 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2278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2563EB"/>
                </a:solidFill>
                <a:latin typeface="Inter"/>
              </a:rPr>
              <a:t>↻ vision request → Groq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709160" y="3776472"/>
            <a:ext cx="1828800" cy="0"/>
          </a:xfrm>
          <a:prstGeom prst="line">
            <a:avLst/>
          </a:prstGeom>
          <a:ln w="1905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54880" y="3520439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293B"/>
                </a:solidFill>
                <a:latin typeface="Inter"/>
              </a:rPr>
              <a:t>extracted text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09160" y="4160520"/>
            <a:ext cx="365760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54880" y="3904487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293B"/>
                </a:solidFill>
                <a:latin typeface="Inter"/>
              </a:rPr>
              <a:t>POST /classify-medicines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4709160" y="4544568"/>
            <a:ext cx="3657600" cy="0"/>
          </a:xfrm>
          <a:prstGeom prst="line">
            <a:avLst/>
          </a:prstGeom>
          <a:ln w="1905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4880" y="4288536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293B"/>
                </a:solidFill>
                <a:latin typeface="Inter"/>
              </a:rPr>
              <a:t>class + indication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09160" y="4928616"/>
            <a:ext cx="557784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54880" y="4672583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293B"/>
                </a:solidFill>
                <a:latin typeface="Inter"/>
              </a:rPr>
              <a:t>save prescription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2971800" y="5312664"/>
            <a:ext cx="1737360" cy="0"/>
          </a:xfrm>
          <a:prstGeom prst="line">
            <a:avLst/>
          </a:prstGeom>
          <a:ln w="1905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017520" y="505663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293B"/>
                </a:solidFill>
                <a:latin typeface="Inter"/>
              </a:rPr>
              <a:t>result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325880" y="5696712"/>
            <a:ext cx="1645920" cy="0"/>
          </a:xfrm>
          <a:prstGeom prst="line">
            <a:avLst/>
          </a:prstGeom>
          <a:ln w="19050">
            <a:solidFill>
              <a:srgbClr val="22C55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71600" y="5440679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1E293B"/>
                </a:solidFill>
                <a:latin typeface="Inter"/>
              </a:rPr>
              <a:t>display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IMPLEMENTATION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OCR Prescription Reader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49377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9488"/>
                </a:solidFill>
                <a:latin typeface="Inter"/>
              </a:rPr>
              <a:t>•  </a:t>
            </a:r>
            <a:r>
              <a:rPr sz="1500" b="0">
                <a:solidFill>
                  <a:srgbClr val="1E293B"/>
                </a:solidFill>
                <a:latin typeface="Inter"/>
              </a:rPr>
              <a:t>Type: AI Vision-Language OCR (not classic Tesseract).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9488"/>
                </a:solidFill>
                <a:latin typeface="Inter"/>
              </a:rPr>
              <a:t>•  </a:t>
            </a:r>
            <a:r>
              <a:rPr sz="1500" b="0">
                <a:solidFill>
                  <a:srgbClr val="1E293B"/>
                </a:solidFill>
                <a:latin typeface="Inter"/>
              </a:rPr>
              <a:t>Engine: Groq Llama-4 Scout vision model (pre-trained).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9488"/>
                </a:solidFill>
                <a:latin typeface="Inter"/>
              </a:rPr>
              <a:t>•  </a:t>
            </a:r>
            <a:r>
              <a:rPr sz="1500" b="0">
                <a:solidFill>
                  <a:srgbClr val="1E293B"/>
                </a:solidFill>
                <a:latin typeface="Inter"/>
              </a:rPr>
              <a:t>Handles printed AND handwritten prescriptions.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9488"/>
                </a:solidFill>
                <a:latin typeface="Inter"/>
              </a:rPr>
              <a:t>•  </a:t>
            </a:r>
            <a:r>
              <a:rPr sz="1500" b="0">
                <a:solidFill>
                  <a:srgbClr val="1E293B"/>
                </a:solidFill>
                <a:latin typeface="Inter"/>
              </a:rPr>
              <a:t>Returns structured fields ready for the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4754880" cy="65836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Image Upload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0" y="2304288"/>
            <a:ext cx="0" cy="210312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2532888"/>
            <a:ext cx="4754880" cy="6583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Preprocess
(resize + RGB)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3191256"/>
            <a:ext cx="0" cy="210312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0" y="3419856"/>
            <a:ext cx="4754880" cy="65836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Base64 Encode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4078224"/>
            <a:ext cx="0" cy="210312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4306824"/>
            <a:ext cx="4754880" cy="65836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Vision Model
+ Medical Prompt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4965192"/>
            <a:ext cx="0" cy="210312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5193792"/>
            <a:ext cx="4754880" cy="65836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Structured Output
Doctor/Diagnosis/Meds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IMPLEMENTATION · ML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Medicine-Indication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9488"/>
                </a:solidFill>
                <a:latin typeface="Inter"/>
              </a:rPr>
              <a:t>•  </a:t>
            </a:r>
            <a:r>
              <a:rPr sz="1500" b="0">
                <a:solidFill>
                  <a:srgbClr val="1E293B"/>
                </a:solidFill>
                <a:latin typeface="Inter"/>
              </a:rPr>
              <a:t>Predicts therapeutic class + disease from the medicine NAME.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9488"/>
                </a:solidFill>
                <a:latin typeface="Inter"/>
              </a:rPr>
              <a:t>•  </a:t>
            </a:r>
            <a:r>
              <a:rPr sz="1500" b="0">
                <a:solidFill>
                  <a:srgbClr val="1E293B"/>
                </a:solidFill>
                <a:latin typeface="Inter"/>
              </a:rPr>
              <a:t>Generalises to drug names never seen in training.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9488"/>
                </a:solidFill>
                <a:latin typeface="Inter"/>
              </a:rPr>
              <a:t>•  </a:t>
            </a:r>
            <a:r>
              <a:rPr sz="1500" b="0">
                <a:solidFill>
                  <a:srgbClr val="1E293B"/>
                </a:solidFill>
                <a:latin typeface="Inter"/>
              </a:rPr>
              <a:t>Built on WHO INN naming stems (e.g. -pril, -statin).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D9488"/>
                </a:solidFill>
                <a:latin typeface="Inter"/>
              </a:rPr>
              <a:t>•  </a:t>
            </a:r>
            <a:r>
              <a:rPr sz="1500" b="0">
                <a:solidFill>
                  <a:srgbClr val="1E293B"/>
                </a:solidFill>
                <a:latin typeface="Inter"/>
              </a:rPr>
              <a:t>Custom-trained — fully reproducible from our dataset.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600200"/>
          <a:ext cx="52120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57476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Inter"/>
                        </a:rPr>
                        <a:t>Stem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Inter"/>
                        </a:rPr>
                        <a:t>Class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Inter"/>
                        </a:rPr>
                        <a:t>Example</a:t>
                      </a:r>
                    </a:p>
                  </a:txBody>
                  <a:tcPr anchor="ctr">
                    <a:solidFill>
                      <a:srgbClr val="0D9488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Inter"/>
                        </a:rPr>
                        <a:t>-pril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ACE Inhibitor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Lisinopril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Inter"/>
                        </a:rPr>
                        <a:t>-statin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Statin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Atorvastatin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Inter"/>
                        </a:rPr>
                        <a:t>-cillin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Penicillin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Amoxicillin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Inter"/>
                        </a:rPr>
                        <a:t>-floxacin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Fluoroquinolone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Ciprofloxacin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Inter"/>
                        </a:rPr>
                        <a:t>-prazole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PPI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Omeprazole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Inter"/>
                        </a:rPr>
                        <a:t>-dipine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Ca-Channel Blocker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Amlodipine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IMPLEMENTATION · ML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ML Methodology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463040"/>
            <a:ext cx="6675120" cy="56692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Curated Dataset — 321 medicines · 27 classes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029968"/>
            <a:ext cx="0" cy="109728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2139696"/>
            <a:ext cx="6675120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Feature Extraction — Character n-gram TF-IDF (n = 2–4)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706624"/>
            <a:ext cx="0" cy="109728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0" y="2816352"/>
            <a:ext cx="6675120" cy="56692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Train / Test Split — 75% / 25% stratified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383280"/>
            <a:ext cx="0" cy="109728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0" y="3493008"/>
            <a:ext cx="6675120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Model Training — Logistic Regression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4059936"/>
            <a:ext cx="0" cy="109728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0" y="4169664"/>
            <a:ext cx="6675120" cy="56692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5-Fold Cross-Validation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4736592"/>
            <a:ext cx="0" cy="109728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0" y="4846320"/>
            <a:ext cx="6675120" cy="566928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Evaluation — Accuracy · F1 · Confusion Matrix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5413248"/>
            <a:ext cx="0" cy="109728"/>
          </a:xfrm>
          <a:prstGeom prst="line">
            <a:avLst/>
          </a:prstGeom>
          <a:ln w="254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3200" y="5522976"/>
            <a:ext cx="6675120" cy="56692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Inter"/>
              </a:rPr>
              <a:t>Deployed Model — medicine_classifier.joblib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IMPLEMENTATION · ML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ML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78308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C55E"/>
                </a:solidFill>
                <a:latin typeface="Poppins"/>
              </a:rPr>
              <a:t>85.4%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Inter"/>
              </a:rPr>
              <a:t>Cross-Validated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1554480"/>
            <a:ext cx="178308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645920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C55E"/>
                </a:solidFill>
                <a:latin typeface="Poppins"/>
              </a:rPr>
              <a:t>76.5%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42316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Inter"/>
              </a:rPr>
              <a:t>Test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554480"/>
            <a:ext cx="178308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645920"/>
            <a:ext cx="1783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2C55E"/>
                </a:solidFill>
                <a:latin typeface="Poppins"/>
              </a:rPr>
              <a:t>0.78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2316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Inter"/>
              </a:rPr>
              <a:t>Macro F1-Score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293B"/>
                </a:solidFill>
                <a:latin typeface="Inter"/>
              </a:rPr>
              <a:t>Model comparison (5-fold CV):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840480" cy="4754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Logistic Regression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3657600"/>
            <a:ext cx="1737360" cy="47548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82.9%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24528"/>
            <a:ext cx="3840480" cy="4754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Linear SVM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224528"/>
            <a:ext cx="1737360" cy="47548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81.7%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91456"/>
            <a:ext cx="3840480" cy="475488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Naive Bayes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791456"/>
            <a:ext cx="1737360" cy="47548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Inter"/>
              </a:rPr>
              <a:t>77.9%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Inter"/>
              </a:rPr>
              <a:t>The model independently rediscovered medical naming conventions from data.</a:t>
            </a:r>
          </a:p>
        </p:txBody>
      </p:sp>
      <p:pic>
        <p:nvPicPr>
          <p:cNvPr id="25" name="Picture 24" descr="g1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212080" cy="33299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IMPLEMENTATION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Key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260604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Multi-role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60604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182880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1168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AI OCR Digitiser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00200"/>
            <a:ext cx="260604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182880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01168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Medicine→Disease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600200"/>
            <a:ext cx="260604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0" y="182880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201168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Interaction 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017520"/>
            <a:ext cx="260604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324612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42900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Vitals 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3017520"/>
            <a:ext cx="260604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57600" y="324612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42900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Health Score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017520"/>
            <a:ext cx="260604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92240" y="324612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42900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Tracker+Reminders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017520"/>
            <a:ext cx="260604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26880" y="324612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342900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Notifications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434840"/>
            <a:ext cx="260604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" y="466344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84632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Telemedicine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4434840"/>
            <a:ext cx="260604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57600" y="466344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🛡️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84632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Admin Dashboard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434840"/>
            <a:ext cx="260604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2240" y="466344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484632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PDF Export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4434840"/>
            <a:ext cx="2606040" cy="1234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26880" y="4663440"/>
            <a:ext cx="777240" cy="7772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Poppins"/>
              </a:rPr>
              <a:t>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484632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Dark Mode / UI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IMPLEMENTATION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End-to-End Workflow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28800"/>
            <a:ext cx="2286000" cy="12801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Upload
Prescription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468880"/>
            <a:ext cx="59436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20439" y="1828800"/>
            <a:ext cx="2286000" cy="1280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OCR
Extraction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06439" y="2468880"/>
            <a:ext cx="59436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400800" y="1828800"/>
            <a:ext cx="2286000" cy="12801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ML
Classification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0" y="2468880"/>
            <a:ext cx="59436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281159" y="1828800"/>
            <a:ext cx="2286000" cy="1280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Interaction
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424159" y="3108960"/>
            <a:ext cx="0" cy="73152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40080" y="3840480"/>
            <a:ext cx="2286000" cy="12801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Schedule
Reminders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" y="4480560"/>
            <a:ext cx="59436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520439" y="3840480"/>
            <a:ext cx="2286000" cy="1280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6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Log
Vitals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06439" y="4480560"/>
            <a:ext cx="59436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400800" y="3840480"/>
            <a:ext cx="2286000" cy="12801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7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Update Health
Score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0" y="4480560"/>
            <a:ext cx="594360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281159" y="3840480"/>
            <a:ext cx="2286000" cy="12801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Poppins"/>
              </a:rPr>
              <a:t>8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Doctor Review
/ PDF Export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RESULTS &amp; TESTING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Application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" y="1472184"/>
            <a:ext cx="3657600" cy="2121408"/>
          </a:xfrm>
          <a:prstGeom prst="rect">
            <a:avLst/>
          </a:prstGeom>
          <a:solidFill>
            <a:srgbClr val="FFFFFF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3584448" cy="21282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3337560"/>
            <a:ext cx="3584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Inter"/>
              </a:rPr>
              <a:t>Patient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1472184"/>
            <a:ext cx="3657600" cy="2121408"/>
          </a:xfrm>
          <a:prstGeom prst="rect">
            <a:avLst/>
          </a:prstGeom>
          <a:solidFill>
            <a:srgbClr val="FFFFFF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escrip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08760"/>
            <a:ext cx="3584448" cy="21282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9120" y="3337560"/>
            <a:ext cx="3584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Inter"/>
              </a:rPr>
              <a:t>Prescription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38744" y="1472184"/>
            <a:ext cx="3657600" cy="2121408"/>
          </a:xfrm>
          <a:prstGeom prst="rect">
            <a:avLst/>
          </a:prstGeom>
          <a:solidFill>
            <a:srgbClr val="FFFFFF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p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508760"/>
            <a:ext cx="3584448" cy="21282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75320" y="3337560"/>
            <a:ext cx="3584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Inter"/>
              </a:rPr>
              <a:t>Prescription Digitizer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" y="3803903"/>
            <a:ext cx="3657600" cy="2121408"/>
          </a:xfrm>
          <a:prstGeom prst="rect">
            <a:avLst/>
          </a:prstGeom>
          <a:solidFill>
            <a:srgbClr val="FFFFFF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octo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40479"/>
            <a:ext cx="3584448" cy="21282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5669279"/>
            <a:ext cx="3584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Inter"/>
              </a:rPr>
              <a:t>Doctor Marketplace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2544" y="3803903"/>
            <a:ext cx="3657600" cy="2121408"/>
          </a:xfrm>
          <a:prstGeom prst="rect">
            <a:avLst/>
          </a:prstGeom>
          <a:solidFill>
            <a:srgbClr val="FFFFFF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edicine_tra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840479"/>
            <a:ext cx="3584448" cy="212826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89120" y="5669279"/>
            <a:ext cx="3584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Inter"/>
              </a:rPr>
              <a:t>Medicine Tracker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8744" y="3803903"/>
            <a:ext cx="3657600" cy="2121408"/>
          </a:xfrm>
          <a:prstGeom prst="rect">
            <a:avLst/>
          </a:prstGeom>
          <a:solidFill>
            <a:srgbClr val="FFFFFF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ita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840479"/>
            <a:ext cx="3584448" cy="21282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75320" y="5669279"/>
            <a:ext cx="35844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293B"/>
                </a:solidFill>
                <a:latin typeface="Inter"/>
              </a:rPr>
              <a:t>Vitals Analytics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RESULTS &amp; TESTING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ML Graphs &amp;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1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303520" cy="33883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141732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3_accuracy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303520" cy="3388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388620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2_model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31920"/>
            <a:ext cx="5303520" cy="33883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63640" y="388620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4_confid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931920"/>
            <a:ext cx="5303520" cy="33883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RESULTS &amp; TESTING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Testing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08760"/>
          <a:ext cx="108813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2743200"/>
                <a:gridCol w="3108960"/>
                <a:gridCol w="2011680"/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Inter"/>
                        </a:rPr>
                        <a:t>ID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Inter"/>
                        </a:rPr>
                        <a:t>Module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Inter"/>
                        </a:rPr>
                        <a:t>Input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Inter"/>
                        </a:rPr>
                        <a:t>Expected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Inter"/>
                        </a:rPr>
                        <a:t>Result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T01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Auth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Valid login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JWT returned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T02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Auth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Wrong password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401 error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Pass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T03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OCR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Prescription image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Structured fields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T04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ML Classify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"Amoxicillin"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Bacterial Infection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Pass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T05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Interactions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2 drugs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Interaction 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T06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Reminder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Set 08:00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Reminder saved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Pass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T07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Health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Vitals logged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E293B"/>
                          </a:solidFill>
                          <a:latin typeface="Inter"/>
                        </a:rPr>
                        <a:t>Score 0–100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2C55E"/>
                          </a:solidFill>
                          <a:latin typeface="Inter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4710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Inter"/>
              </a:rPr>
              <a:t>HealthEase — AI Healthcare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547104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"/>
            <a:ext cx="128016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4B8A6"/>
                </a:solidFill>
                <a:latin typeface="Inter"/>
              </a:rPr>
              <a:t>CONCLUSION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E293B"/>
                </a:solidFill>
                <a:latin typeface="Poppins"/>
              </a:rPr>
              <a:t>Future Scope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657600"/>
            <a:ext cx="10332720" cy="0"/>
          </a:xfrm>
          <a:prstGeom prst="line">
            <a:avLst/>
          </a:prstGeom>
          <a:ln w="38100">
            <a:solidFill>
              <a:srgbClr val="0D94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05840" y="33832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03120"/>
            <a:ext cx="1828800" cy="1005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WebRTC live
video consults</a:t>
            </a:r>
          </a:p>
        </p:txBody>
      </p:sp>
      <p:sp>
        <p:nvSpPr>
          <p:cNvPr id="11" name="Oval 10"/>
          <p:cNvSpPr/>
          <p:nvPr/>
        </p:nvSpPr>
        <p:spPr>
          <a:xfrm>
            <a:off x="3246120" y="33832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4297680"/>
            <a:ext cx="1828800" cy="1005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Wearable sync
(Apple/Google Fit)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0" y="33832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103120"/>
            <a:ext cx="1828800" cy="1005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Predictive ML for
vitals trends</a:t>
            </a:r>
          </a:p>
        </p:txBody>
      </p:sp>
      <p:sp>
        <p:nvSpPr>
          <p:cNvPr id="15" name="Oval 14"/>
          <p:cNvSpPr/>
          <p:nvPr/>
        </p:nvSpPr>
        <p:spPr>
          <a:xfrm>
            <a:off x="7726680" y="33832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4297680"/>
            <a:ext cx="1828800" cy="1005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Expand to 50+
drug classes</a:t>
            </a:r>
          </a:p>
        </p:txBody>
      </p:sp>
      <p:sp>
        <p:nvSpPr>
          <p:cNvPr id="17" name="Oval 16"/>
          <p:cNvSpPr/>
          <p:nvPr/>
        </p:nvSpPr>
        <p:spPr>
          <a:xfrm>
            <a:off x="9966960" y="33832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103120"/>
            <a:ext cx="1828800" cy="1005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293B"/>
                </a:solidFill>
                <a:latin typeface="Inter"/>
              </a:rPr>
              <a:t>Mobile
app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14B8A6"/>
                </a:solidFill>
                <a:latin typeface="Poppi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